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Нормативные конфликты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Гречников</a:t>
            </a:r>
            <a:r>
              <a:rPr lang="ru-RU" dirty="0" smtClean="0"/>
              <a:t> Н.М. </a:t>
            </a:r>
          </a:p>
          <a:p>
            <a:r>
              <a:rPr lang="ru-RU" dirty="0" smtClean="0"/>
              <a:t>Группа 4488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91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Эрика </a:t>
            </a:r>
            <a:r>
              <a:rPr lang="ru-RU" dirty="0" err="1" smtClean="0"/>
              <a:t>Регнет</a:t>
            </a:r>
            <a:r>
              <a:rPr lang="ru-RU" dirty="0"/>
              <a:t> </a:t>
            </a:r>
          </a:p>
          <a:p>
            <a:r>
              <a:rPr lang="ru-RU" dirty="0" smtClean="0"/>
              <a:t>«Организационные конфликты. Формы</a:t>
            </a:r>
            <a:r>
              <a:rPr lang="ru-RU" dirty="0"/>
              <a:t>, функции и способы преодоления</a:t>
            </a:r>
            <a:r>
              <a:rPr lang="ru-RU" dirty="0" smtClean="0"/>
              <a:t>».</a:t>
            </a:r>
            <a:endParaRPr lang="ru-RU" dirty="0"/>
          </a:p>
        </p:txBody>
      </p:sp>
      <p:pic>
        <p:nvPicPr>
          <p:cNvPr id="1026" name="Picture 2" descr="https://sun9-54.userapi.com/s/v1/ig2/vPu2K_xs08Zt7EnTDGHYVBu31caKmX0QdAZdLb-wdrGA6PiLIEN-R6pxDvdM1p2Bi8qLlZMUsz2QOt0S9DbADoZn.jpg?quality=96&amp;as=32x48,48x71,72x107,108x161,160x238,240x357,360x536,480x715,540x804,640x953,646x962&amp;from=bu&amp;u=aPHjTtnu08WFr91fPC5L_pjGLqW9Sz-4Poi80m8Qb0I&amp;cs=646x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476" y="976725"/>
            <a:ext cx="3285517" cy="489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7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Суть нормативного конфликта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центре нормативного конфликта лежит не дефицит ресурсов (деньги, территория), а фундаментальное противоречие в вопросе «как правильно». Стороны апеллируют к разным нормативным системам или по-разному интерпретируют одни и те же правила.</a:t>
            </a:r>
          </a:p>
          <a:p>
            <a:r>
              <a:rPr lang="ru-RU" b="1" dirty="0"/>
              <a:t>Согласно концепции Э. </a:t>
            </a:r>
            <a:r>
              <a:rPr lang="ru-RU" b="1" dirty="0" err="1"/>
              <a:t>Регнет</a:t>
            </a:r>
            <a:r>
              <a:rPr lang="ru-RU" b="1" dirty="0"/>
              <a:t>, можно выделить три ключевых типа таких </a:t>
            </a:r>
            <a:r>
              <a:rPr lang="ru-RU" b="1" dirty="0" smtClean="0"/>
              <a:t>ситуаций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99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Полинормативность</a:t>
            </a:r>
            <a:r>
              <a:rPr lang="ru-RU" dirty="0"/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Конфликт </a:t>
            </a:r>
            <a:r>
              <a:rPr lang="ru-RU" dirty="0"/>
              <a:t>«Закон </a:t>
            </a:r>
            <a:r>
              <a:rPr lang="ru-RU" dirty="0" err="1"/>
              <a:t>vs</a:t>
            </a:r>
            <a:r>
              <a:rPr lang="ru-RU" dirty="0"/>
              <a:t> Мораль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Ситуация, при которой субъект вынужден выбирать между двумя несовпадающими системами координат</a:t>
            </a:r>
            <a:r>
              <a:rPr lang="ru-RU" dirty="0" smtClean="0"/>
              <a:t>.</a:t>
            </a:r>
          </a:p>
          <a:p>
            <a:r>
              <a:rPr lang="ru-RU" dirty="0" err="1"/>
              <a:t>Внутриличностный</a:t>
            </a:r>
            <a:r>
              <a:rPr lang="ru-RU" dirty="0"/>
              <a:t> ценностный спор перерастает в межличностный или правовой конфликт, когда действия индивида оцениваются окружающими с противоположных позиций.</a:t>
            </a:r>
          </a:p>
        </p:txBody>
      </p:sp>
    </p:spTree>
    <p:extLst>
      <p:ext uri="{BB962C8B-B14F-4D97-AF65-F5344CB8AC3E}">
        <p14:creationId xmlns:p14="http://schemas.microsoft.com/office/powerpoint/2010/main" val="383302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Врач обязан по закону сообщить в полицию о пациенте с криминальной травмой (юридическая норма), однако врачебная этика и принцип доверия диктуют сохранение конфиденциальности (профессионально-этическая норма).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Сотрудник службы безопасности узнает, что коллега (его близкий друг) совершил мелкую кражу, чтобы купить лекарства ребенку. </a:t>
            </a:r>
            <a:r>
              <a:rPr lang="ru-RU" dirty="0" smtClean="0"/>
              <a:t>Как работник, он обязан доложить (юридическая норма). Как друг, </a:t>
            </a:r>
            <a:r>
              <a:rPr lang="ru-RU" dirty="0"/>
              <a:t>он должен промолчать</a:t>
            </a:r>
            <a:r>
              <a:rPr lang="ru-RU" dirty="0" smtClean="0"/>
              <a:t>. (мораль)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654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Конфликт интерпретаций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Конфликт </a:t>
            </a:r>
            <a:r>
              <a:rPr lang="ru-RU" dirty="0"/>
              <a:t>«Буква </a:t>
            </a:r>
            <a:r>
              <a:rPr lang="ru-RU" dirty="0" err="1"/>
              <a:t>vs</a:t>
            </a:r>
            <a:r>
              <a:rPr lang="ru-RU" dirty="0"/>
              <a:t> Дух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Норма едина, но содержание в нее вкладывают разное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Стороны не отрицают само правило, но спорят о границах его применимости.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1732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Правило </a:t>
            </a:r>
            <a:r>
              <a:rPr lang="ru-RU" dirty="0" smtClean="0"/>
              <a:t>«Быть </a:t>
            </a:r>
            <a:r>
              <a:rPr lang="ru-RU" dirty="0"/>
              <a:t>на связи в рабочее время». Руководитель трактует его как готовность к коммуникации 24/7 в силу специфики задач. </a:t>
            </a:r>
            <a:r>
              <a:rPr lang="ru-RU" dirty="0" smtClean="0"/>
              <a:t>Сотрудник, в свою очередь, как </a:t>
            </a:r>
            <a:r>
              <a:rPr lang="ru-RU" dirty="0"/>
              <a:t>доступность строго в рамках </a:t>
            </a:r>
            <a:r>
              <a:rPr lang="ru-RU" dirty="0" smtClean="0"/>
              <a:t>рабочего времени.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Норма «Сотрудники должны выглядеть профессионально». Один понимает это как обязательный деловой </a:t>
            </a:r>
            <a:r>
              <a:rPr lang="ru-RU" dirty="0" smtClean="0"/>
              <a:t>костюм, а </a:t>
            </a:r>
            <a:r>
              <a:rPr lang="ru-RU" dirty="0"/>
              <a:t>другой — как аккуратный стиль </a:t>
            </a:r>
            <a:r>
              <a:rPr lang="ru-RU" dirty="0" err="1"/>
              <a:t>Casual</a:t>
            </a:r>
            <a:r>
              <a:rPr lang="ru-RU" dirty="0"/>
              <a:t>. Конфликт возникает на стыке субъективных представлений о «профессионализме».</a:t>
            </a:r>
          </a:p>
        </p:txBody>
      </p:sp>
    </p:spTree>
    <p:extLst>
      <p:ext uri="{BB962C8B-B14F-4D97-AF65-F5344CB8AC3E}">
        <p14:creationId xmlns:p14="http://schemas.microsoft.com/office/powerpoint/2010/main" val="112644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Мертвые </a:t>
            </a:r>
            <a:r>
              <a:rPr lang="ru-RU" dirty="0" err="1"/>
              <a:t>vs</a:t>
            </a:r>
            <a:r>
              <a:rPr lang="ru-RU" dirty="0"/>
              <a:t> Живые нормы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Конфликт </a:t>
            </a:r>
            <a:r>
              <a:rPr lang="ru-RU" dirty="0"/>
              <a:t>«Регламент </a:t>
            </a:r>
            <a:r>
              <a:rPr lang="ru-RU" dirty="0" err="1"/>
              <a:t>vs</a:t>
            </a:r>
            <a:r>
              <a:rPr lang="ru-RU" dirty="0"/>
              <a:t> Практика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Противоречие между формальными требованиями и реальными механизмами функционирования организации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Столкновение исполнителей </a:t>
            </a:r>
            <a:r>
              <a:rPr lang="ru-RU" dirty="0" smtClean="0"/>
              <a:t>и людей, которые требуют </a:t>
            </a:r>
            <a:r>
              <a:rPr lang="ru-RU" dirty="0"/>
              <a:t>соблюдения мертвого регламента ради </a:t>
            </a:r>
            <a:r>
              <a:rPr lang="ru-RU" dirty="0" smtClean="0"/>
              <a:t>безопасности. </a:t>
            </a:r>
            <a:r>
              <a:rPr lang="ru-RU" dirty="0"/>
              <a:t>Вскрытие такой практики часто приводит к острому кризису доверия в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110208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Официальный регламент требует пяти этапов согласования документа, что занимает неделю. Рыночные условия требуют решения за час. В итоге формируется «теневая </a:t>
            </a:r>
            <a:r>
              <a:rPr lang="ru-RU" dirty="0" smtClean="0"/>
              <a:t>норма». </a:t>
            </a:r>
            <a:r>
              <a:rPr lang="ru-RU" dirty="0"/>
              <a:t>Д</a:t>
            </a:r>
            <a:r>
              <a:rPr lang="ru-RU" dirty="0" smtClean="0"/>
              <a:t>оговоренность </a:t>
            </a:r>
            <a:r>
              <a:rPr lang="ru-RU" dirty="0"/>
              <a:t>достигается устно, а документы оформляются </a:t>
            </a:r>
            <a:r>
              <a:rPr lang="ru-RU" dirty="0" smtClean="0"/>
              <a:t>задним числом.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Старый регламент безопасности завода запрещает использовать мобильные телефоны в цеху. Однако современное оборудование требует мониторинга через мобильное приложение. Рабочие используют телефоны, нарушая </a:t>
            </a:r>
            <a:r>
              <a:rPr lang="ru-RU" dirty="0" smtClean="0"/>
              <a:t>устаревшую («мертвую») </a:t>
            </a:r>
            <a:r>
              <a:rPr lang="ru-RU" dirty="0"/>
              <a:t>норму ради работы, а инспектор </a:t>
            </a:r>
            <a:r>
              <a:rPr lang="ru-RU" dirty="0" smtClean="0"/>
              <a:t>требует </a:t>
            </a:r>
            <a:r>
              <a:rPr lang="ru-RU" dirty="0"/>
              <a:t>строгого </a:t>
            </a:r>
            <a:r>
              <a:rPr lang="ru-RU" dirty="0" smtClean="0"/>
              <a:t>соблюдения приказа.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8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Диффузия норм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(Неопределенность)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Суть:</a:t>
            </a:r>
            <a:r>
              <a:rPr lang="ru-RU" dirty="0"/>
              <a:t> В новой компании или при резкой смене руководства старые правила отменили, а новые не прописали</a:t>
            </a:r>
            <a:r>
              <a:rPr lang="ru-RU" dirty="0" smtClean="0"/>
              <a:t>.</a:t>
            </a:r>
          </a:p>
          <a:p>
            <a:r>
              <a:rPr lang="ru-RU" b="1" dirty="0"/>
              <a:t>Пример:</a:t>
            </a:r>
            <a:r>
              <a:rPr lang="ru-RU" dirty="0"/>
              <a:t> Раньше премии распределял начальник отдела по своему усмотрению. Пришел новый </a:t>
            </a:r>
            <a:r>
              <a:rPr lang="ru-RU" dirty="0" smtClean="0"/>
              <a:t>начальник </a:t>
            </a:r>
            <a:r>
              <a:rPr lang="ru-RU" dirty="0"/>
              <a:t>и сказал: «Теперь всё будет прозрачно», но критерии прозрачности не опубликовал. Сотрудники начинают конфликтовать между собой, пытаясь </a:t>
            </a:r>
            <a:r>
              <a:rPr lang="ru-RU" dirty="0" smtClean="0"/>
              <a:t>понять новые </a:t>
            </a:r>
            <a:r>
              <a:rPr lang="ru-RU" dirty="0"/>
              <a:t>правила через интриги и догадки.</a:t>
            </a:r>
          </a:p>
        </p:txBody>
      </p:sp>
    </p:spTree>
    <p:extLst>
      <p:ext uri="{BB962C8B-B14F-4D97-AF65-F5344CB8AC3E}">
        <p14:creationId xmlns:p14="http://schemas.microsoft.com/office/powerpoint/2010/main" val="10845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Конфликт «Лояльность </a:t>
            </a:r>
            <a:r>
              <a:rPr lang="en-US" dirty="0"/>
              <a:t>vs </a:t>
            </a:r>
            <a:r>
              <a:rPr lang="ru-RU" dirty="0"/>
              <a:t>Компетентность»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Суть:</a:t>
            </a:r>
            <a:r>
              <a:rPr lang="ru-RU" dirty="0"/>
              <a:t> Столкновение нормы «быть преданным руководству» и нормы «быть профессионалом</a:t>
            </a:r>
            <a:r>
              <a:rPr lang="ru-RU" dirty="0" smtClean="0"/>
              <a:t>».</a:t>
            </a:r>
          </a:p>
          <a:p>
            <a:r>
              <a:rPr lang="ru-RU" b="1" dirty="0" smtClean="0"/>
              <a:t>Пример</a:t>
            </a:r>
            <a:r>
              <a:rPr lang="ru-RU" b="1" dirty="0"/>
              <a:t>:</a:t>
            </a:r>
            <a:r>
              <a:rPr lang="ru-RU" dirty="0"/>
              <a:t> Руководитель предлагает технически ошибочное, но финансово выгодное решение. Инженер (как профессионал) обязан возразить, но как лояльный подчиненный </a:t>
            </a:r>
            <a:r>
              <a:rPr lang="ru-RU" dirty="0" smtClean="0"/>
              <a:t>он </a:t>
            </a:r>
            <a:r>
              <a:rPr lang="ru-RU" dirty="0"/>
              <a:t>должен поддержать. Любое действие приведет к нарушению одной из норм.</a:t>
            </a:r>
          </a:p>
        </p:txBody>
      </p:sp>
    </p:spTree>
    <p:extLst>
      <p:ext uri="{BB962C8B-B14F-4D97-AF65-F5344CB8AC3E}">
        <p14:creationId xmlns:p14="http://schemas.microsoft.com/office/powerpoint/2010/main" val="196633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Конфликт «Роль </a:t>
            </a:r>
            <a:r>
              <a:rPr lang="en-US" dirty="0"/>
              <a:t>vs </a:t>
            </a:r>
            <a:r>
              <a:rPr lang="ru-RU" dirty="0"/>
              <a:t>Личность»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Суть: </a:t>
            </a:r>
            <a:r>
              <a:rPr lang="ru-RU" dirty="0"/>
              <a:t>Социальная норма роли </a:t>
            </a:r>
            <a:r>
              <a:rPr lang="ru-RU" dirty="0" smtClean="0"/>
              <a:t>конфликтует с </a:t>
            </a:r>
            <a:r>
              <a:rPr lang="ru-RU" dirty="0"/>
              <a:t>личностной </a:t>
            </a:r>
            <a:r>
              <a:rPr lang="ru-RU" dirty="0" smtClean="0"/>
              <a:t>нормой.</a:t>
            </a:r>
          </a:p>
          <a:p>
            <a:r>
              <a:rPr lang="ru-RU" b="1" dirty="0" smtClean="0"/>
              <a:t>Пример</a:t>
            </a:r>
            <a:r>
              <a:rPr lang="ru-RU" b="1" dirty="0"/>
              <a:t>: </a:t>
            </a:r>
            <a:r>
              <a:rPr lang="ru-RU" dirty="0"/>
              <a:t>Руководителю отдела кадров, </a:t>
            </a:r>
            <a:r>
              <a:rPr lang="ru-RU" dirty="0" smtClean="0"/>
              <a:t>который склонен </a:t>
            </a:r>
            <a:r>
              <a:rPr lang="ru-RU" dirty="0"/>
              <a:t>к </a:t>
            </a:r>
            <a:r>
              <a:rPr lang="ru-RU" dirty="0" err="1"/>
              <a:t>эмпатии</a:t>
            </a:r>
            <a:r>
              <a:rPr lang="ru-RU" dirty="0"/>
              <a:t>, приказывают провести </a:t>
            </a:r>
            <a:r>
              <a:rPr lang="ru-RU" dirty="0" smtClean="0"/>
              <a:t>массовое увольнение. </a:t>
            </a:r>
            <a:r>
              <a:rPr lang="ru-RU" dirty="0"/>
              <a:t>Его личная норма (справедливость) конфликтует с ролевой </a:t>
            </a:r>
            <a:r>
              <a:rPr lang="ru-RU" dirty="0" smtClean="0"/>
              <a:t>нормой </a:t>
            </a:r>
            <a:r>
              <a:rPr lang="ru-RU" dirty="0"/>
              <a:t>(исполнение приказа </a:t>
            </a:r>
            <a:r>
              <a:rPr lang="ru-RU" dirty="0" smtClean="0"/>
              <a:t>начальника).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0385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Конфликт </a:t>
            </a:r>
            <a:r>
              <a:rPr lang="ru-RU" dirty="0"/>
              <a:t>как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«</a:t>
            </a:r>
            <a:r>
              <a:rPr lang="ru-RU" dirty="0"/>
              <a:t>индикатор системных ошибок»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Согласно </a:t>
            </a:r>
            <a:r>
              <a:rPr lang="ru-RU" dirty="0" err="1"/>
              <a:t>Регнет</a:t>
            </a:r>
            <a:r>
              <a:rPr lang="ru-RU" dirty="0"/>
              <a:t>, нормативный конфликт — это сигнал того, что организационная культура «расколота» и формальные правила перестали соответствовать внутренним ценностям сотрудников.</a:t>
            </a:r>
          </a:p>
        </p:txBody>
      </p:sp>
    </p:spTree>
    <p:extLst>
      <p:ext uri="{BB962C8B-B14F-4D97-AF65-F5344CB8AC3E}">
        <p14:creationId xmlns:p14="http://schemas.microsoft.com/office/powerpoint/2010/main" val="2831614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9439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48</TotalTime>
  <Words>589</Words>
  <Application>Microsoft Office PowerPoint</Application>
  <PresentationFormat>Широкоэкранный</PresentationFormat>
  <Paragraphs>39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Garamond</vt:lpstr>
      <vt:lpstr>Натуральные материалы</vt:lpstr>
      <vt:lpstr>Нормативные конфликты</vt:lpstr>
      <vt:lpstr>Источник</vt:lpstr>
      <vt:lpstr>Суть нормативного конфликта</vt:lpstr>
      <vt:lpstr>Полинормативность  Конфликт «Закон vs Мораль»</vt:lpstr>
      <vt:lpstr>Примеры</vt:lpstr>
      <vt:lpstr>Конфликт интерпретаций  Конфликт «Буква vs Дух»</vt:lpstr>
      <vt:lpstr>Примеры</vt:lpstr>
      <vt:lpstr>Мертвые vs Живые нормы  Конфликт «Регламент vs Практика»</vt:lpstr>
      <vt:lpstr>Примеры</vt:lpstr>
      <vt:lpstr>Диффузия норм  (Неопределенность)</vt:lpstr>
      <vt:lpstr>Конфликт «Лояльность vs Компетентность»</vt:lpstr>
      <vt:lpstr>Конфликт «Роль vs Личность»</vt:lpstr>
      <vt:lpstr>Конфликт как  «индикатор системных ошибок»</vt:lpstr>
      <vt:lpstr>Спасибо за внимание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Нормативные конфликты</dc:title>
  <dc:creator>Greed</dc:creator>
  <cp:lastModifiedBy>Greed</cp:lastModifiedBy>
  <cp:revision>4</cp:revision>
  <dcterms:created xsi:type="dcterms:W3CDTF">2026-04-24T10:04:31Z</dcterms:created>
  <dcterms:modified xsi:type="dcterms:W3CDTF">2026-04-24T10:52:52Z</dcterms:modified>
</cp:coreProperties>
</file>